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3" r:id="rId6"/>
    <p:sldId id="267" r:id="rId7"/>
    <p:sldId id="264" r:id="rId8"/>
    <p:sldId id="268" r:id="rId9"/>
    <p:sldId id="269" r:id="rId10"/>
    <p:sldId id="260" r:id="rId11"/>
    <p:sldId id="271" r:id="rId12"/>
    <p:sldId id="272" r:id="rId13"/>
    <p:sldId id="261" r:id="rId14"/>
    <p:sldId id="275" r:id="rId15"/>
    <p:sldId id="276" r:id="rId16"/>
    <p:sldId id="26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090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2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9955-62B8-725C-0E48-CF830CD9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DB0E0-DAD5-0C4B-2D03-6CA5DA158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545E8-3888-794C-8C40-63896AE0E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84596-DE7F-9C68-A9A7-1657C83DB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2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8B80-4A82-55DF-C74C-F185C5AA3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9C896-5E69-F114-FA5A-8451A1A93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B6AC-7B6C-A4A3-A17F-D91C283BE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C3ABE-739B-1FDE-3C0B-604472A8B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4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2407-EF3F-C3B9-408C-1BB9E7A4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82337-DE14-BE01-794A-AD833ABEB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1173-9C25-D827-0F54-88EF5A82F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B4A0-1CA4-E429-2ED2-E28A688D4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43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AACD-1A90-9D0E-947C-1DEB3C3D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D66F6-80CD-B706-4DB9-23482247D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06ADA-C879-A901-7520-3D0CD7051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D89AA-DDE1-F71C-E008-E96ACC9EB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37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DB6D-310D-B650-109C-2EC43905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033EC-B01A-D23A-0BCF-99874B47D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0F47D-E826-4129-5BEA-042353655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23D9C-7024-7AC7-2482-DE00FB352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7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D062-AED4-B18A-1252-ADBFA74F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E13ED-94DC-0C1A-F8EB-B7CE42F39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38729-3125-151A-D511-7C9033843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B4B13-5829-4EC0-2228-2C235E52E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5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6708-877E-392E-62F6-AB9EF108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5EB5F-09DB-2C46-58C5-F00E69F33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1AAC9-C149-2C68-AA45-7C472231E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E20EB-6F4E-AC3E-4E48-69EF19046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75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3F5C-678D-E3C1-2C0D-1F5CE82B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8090C-D753-A624-C6BC-71926862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1B67-2536-A69D-5E49-EC25C0F59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0085D-0B14-8B72-163D-9A5244C455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76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2922-7928-B890-DCE4-A1DDC569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D5329-6F10-A2CA-3661-6308ABDE2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3F2F4-3556-ABCF-21DF-94DC31CE9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62EEA-BA52-57FC-6CCE-24A318C49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1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4EB6-869B-4F96-59FE-219DB097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8BB55-D4A2-2570-9C4E-4197BF87E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3ED1B-C808-FE9B-ACCE-EA0E35745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4C7E0-388A-7637-77B0-53DC18213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0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90303" y="783772"/>
            <a:ext cx="7974873" cy="112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Exploratory Data Analysis of Large-Scale Retail Transaction Data </a:t>
            </a:r>
            <a:r>
              <a:rPr lang="en-IN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Univariate, Bivariate, and Multivariate Statistical Techniques</a:t>
            </a: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66206" y="3451860"/>
            <a:ext cx="7746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NEXTHIKE IT SOLUTIONS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66206" y="4206240"/>
            <a:ext cx="7929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Awantika Patil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attributes describing customers, orders and products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25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25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9202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product_subcategory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3977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78608" y="3977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715768" y="3977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0016" y="3977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37176" y="3977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5477256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21424" y="397764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958584" y="3977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7598664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of analysis mapped to the dataset variables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single variables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price, quantity, discount, delivery days: mean, median, skewness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payment, return status: frequency and share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plots, IQR outliers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Outlier’s detection and correction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79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481328"/>
            <a:ext cx="457200" cy="457200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pairwise relationships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3774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quantity: correlation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by segment: ANOVA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vs return status: chi-square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Outlier’s detection and correction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79"/>
            <a:ext cx="2651760" cy="2788919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81328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structure and drivers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37744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numeric fields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K-means on customer behaviour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for return status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Outlier’s detection and correction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DA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Preparation:</a:t>
            </a: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order_date, derive month and age group, check final_price against price, quantity and discount, handle missing and duplicate records.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75004"/>
            <a:ext cx="80467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1. UNIVARIATE ANALYSIS - NUMERIC COLUMNS</a:t>
            </a:r>
          </a:p>
          <a:p>
            <a:br>
              <a:rPr lang="en-IN" sz="1400" dirty="0"/>
            </a:br>
            <a:endParaRPr lang="en-US" sz="125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1FF67A3A-538E-8D47-D3F1-D234D1C9A9C2}"/>
              </a:ext>
            </a:extLst>
          </p:cNvPr>
          <p:cNvSpPr txBox="1"/>
          <p:nvPr/>
        </p:nvSpPr>
        <p:spPr>
          <a:xfrm>
            <a:off x="391886" y="1352007"/>
            <a:ext cx="780505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9B9E6D-68CF-BA7E-D264-763B19CBC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09" y="1776548"/>
            <a:ext cx="7289074" cy="270401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BEDF2-CC74-0F25-E10F-302678B9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C21C610-696D-2C6C-E16E-60168DDA29C9}"/>
              </a:ext>
            </a:extLst>
          </p:cNvPr>
          <p:cNvSpPr txBox="1"/>
          <p:nvPr/>
        </p:nvSpPr>
        <p:spPr>
          <a:xfrm>
            <a:off x="457200" y="241664"/>
            <a:ext cx="82296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/>
              <a:t>Histogram Plot , Boxplot Plot , Density Plot for Age and Product Price</a:t>
            </a:r>
          </a:p>
          <a:p>
            <a:pPr marL="0" indent="0">
              <a:buNone/>
            </a:pPr>
            <a:r>
              <a:rPr lang="en-US" sz="1400" dirty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5400A6-0586-5280-89F6-A8C9D406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31" y="718458"/>
            <a:ext cx="6531430" cy="3219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97FB98-1AD8-9E8E-DDA1-325BB50B4AC8}"/>
              </a:ext>
            </a:extLst>
          </p:cNvPr>
          <p:cNvSpPr txBox="1"/>
          <p:nvPr/>
        </p:nvSpPr>
        <p:spPr>
          <a:xfrm>
            <a:off x="163286" y="4460966"/>
            <a:ext cx="8738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Takeaway: </a:t>
            </a:r>
            <a:r>
              <a:rPr lang="en-IN" sz="1200" b="1" dirty="0" err="1"/>
              <a:t>product_price</a:t>
            </a:r>
            <a:r>
              <a:rPr lang="en-IN" sz="1200" b="1" dirty="0"/>
              <a:t> is uniformly distributed across its full range (500–59,998), matching its skew ≈ 0. No unusual outliers or concentration — every price point is roughly equally likely.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137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4F7B7-BD13-31A3-EA88-783996F6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EC3CBA2-5AD0-DBA9-9618-DC926F253F69}"/>
              </a:ext>
            </a:extLst>
          </p:cNvPr>
          <p:cNvSpPr txBox="1"/>
          <p:nvPr/>
        </p:nvSpPr>
        <p:spPr>
          <a:xfrm>
            <a:off x="457200" y="241664"/>
            <a:ext cx="822960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/>
              <a:t>Histogram Plot , Boxplot Plot , Density Plot for Final price and Delivery days</a:t>
            </a:r>
          </a:p>
          <a:p>
            <a:pPr marL="0" indent="0">
              <a:buNone/>
            </a:pPr>
            <a:r>
              <a:rPr lang="en-US" sz="14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D2DA8-48C5-453D-A440-FC9152367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76" y="836024"/>
            <a:ext cx="6727373" cy="312855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B8C591-3EEE-3813-56B6-1957D93D4753}"/>
              </a:ext>
            </a:extLst>
          </p:cNvPr>
          <p:cNvSpPr txBox="1"/>
          <p:nvPr/>
        </p:nvSpPr>
        <p:spPr>
          <a:xfrm>
            <a:off x="0" y="4188759"/>
            <a:ext cx="90498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Takeaway: </a:t>
            </a:r>
            <a:r>
              <a:rPr lang="en-IN" sz="1400" b="1" dirty="0" err="1"/>
              <a:t>final_price</a:t>
            </a:r>
            <a:r>
              <a:rPr lang="en-IN" sz="1400" b="1" dirty="0"/>
              <a:t> behaves very differently from the other columns — most orders have lower final prices, but a smaller number of high-value orders pull the distribution's tail out and create actual outliers. For </a:t>
            </a:r>
            <a:r>
              <a:rPr lang="en-IN" sz="1400" b="1" dirty="0" err="1"/>
              <a:t>delivery_days</a:t>
            </a:r>
            <a:r>
              <a:rPr lang="en-IN" sz="1400" b="1" dirty="0"/>
              <a:t> is a discrete uniform variable (1–10 days, equal frequency), just like quantity. 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59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4968E-E9C0-3E6A-F903-C25A9935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9229A8-1EEA-44D9-814E-DF1A0F9FA1F8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E0D43E-0AE2-175B-401D-9B4EAE65564D}"/>
              </a:ext>
            </a:extLst>
          </p:cNvPr>
          <p:cNvSpPr txBox="1"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2. UNIVARIATE ANALYSIS - CATEGORICAL COLUMNS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61889B-E8B6-276D-D620-3CC330CDC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36914"/>
            <a:ext cx="6577149" cy="2299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78F58D-5C22-448B-36FF-C42D4C8EAEC1}"/>
              </a:ext>
            </a:extLst>
          </p:cNvPr>
          <p:cNvSpPr txBox="1"/>
          <p:nvPr/>
        </p:nvSpPr>
        <p:spPr>
          <a:xfrm>
            <a:off x="457201" y="3997235"/>
            <a:ext cx="8457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This is a bar chart showing the gender distribution in a dataset:</a:t>
            </a:r>
          </a:p>
          <a:p>
            <a:r>
              <a:rPr lang="en-IN" sz="1200" dirty="0"/>
              <a:t>Male: 50,111 records</a:t>
            </a:r>
          </a:p>
          <a:p>
            <a:r>
              <a:rPr lang="en-IN" sz="1200" dirty="0"/>
              <a:t>Female: 49,889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56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4EE5D-1331-BA54-0BE8-EFF9F565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890D9B-21E2-8E6F-39A1-C4408347C5AA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BF3621-E4D7-4768-802B-7C22EC609ADB}"/>
              </a:ext>
            </a:extLst>
          </p:cNvPr>
          <p:cNvSpPr txBox="1"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2. UNIVARIATE ANALYSIS - CATEGORICAL COLUMNS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8A1954-44E8-1234-0D56-634C80F8AB81}"/>
              </a:ext>
            </a:extLst>
          </p:cNvPr>
          <p:cNvSpPr txBox="1"/>
          <p:nvPr/>
        </p:nvSpPr>
        <p:spPr>
          <a:xfrm>
            <a:off x="529046" y="4324418"/>
            <a:ext cx="8457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It shows record counts across 10 Indian cities (Hyderabad, Ahmedabad, Bangalore, Mumbai, Chennai, Noida, Delhi, Kolkata, Pune, Jaipur), each with roughly 9,900–10,150 entries.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3C4FF-881E-2C95-EC86-0A992FCE9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6" y="1280160"/>
            <a:ext cx="6224452" cy="271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8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3368B-CABA-4FD2-EFA5-7FFFA125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976A54-0FC6-7AC1-C8C9-E0A9E8C9C569}"/>
              </a:ext>
            </a:extLst>
          </p:cNvPr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91B547-B6C1-F4BC-51B2-F847B4E929F0}"/>
              </a:ext>
            </a:extLst>
          </p:cNvPr>
          <p:cNvSpPr txBox="1"/>
          <p:nvPr/>
        </p:nvSpPr>
        <p:spPr>
          <a:xfrm>
            <a:off x="457200" y="88796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Outlier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4A173-356A-8515-6DB5-8C9A9241E22B}"/>
              </a:ext>
            </a:extLst>
          </p:cNvPr>
          <p:cNvSpPr txBox="1"/>
          <p:nvPr/>
        </p:nvSpPr>
        <p:spPr>
          <a:xfrm>
            <a:off x="117566" y="4056017"/>
            <a:ext cx="886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Almost every column has 0 outliers — all values fall comfortably within their expected IQR </a:t>
            </a:r>
            <a:r>
              <a:rPr lang="en-IN" sz="1200" dirty="0" err="1"/>
              <a:t>range.final_price</a:t>
            </a:r>
            <a:r>
              <a:rPr lang="en-IN" sz="1200" dirty="0"/>
              <a:t> is the only column with outliers — 1,335 records fall outside the range (-79,306.6 to 198,057.68), meaning some final prices are unusually high (or low) compared to the typical spread.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E2F25-11B2-0235-4626-5FE6E270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" y="1508760"/>
            <a:ext cx="7837715" cy="22925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1123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8229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1. NUMERIC vs NUMERIC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57108" y="1919894"/>
            <a:ext cx="2292532" cy="372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vs numeric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57108" y="2370908"/>
            <a:ext cx="2292531" cy="8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 vs quantity: Pearson r = -0.00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222AC3-54E1-BB1B-214D-8037D1FD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" y="1497003"/>
            <a:ext cx="5701937" cy="3290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8DAC0-5E74-ADB6-17E4-DF6AB062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65F12E-B2FD-35D0-43C5-36C82F009077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FF6075-5834-2BE2-9462-2A675434CE06}"/>
              </a:ext>
            </a:extLst>
          </p:cNvPr>
          <p:cNvSpPr txBox="1"/>
          <p:nvPr/>
        </p:nvSpPr>
        <p:spPr>
          <a:xfrm>
            <a:off x="457200" y="1133856"/>
            <a:ext cx="8229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2. NUMERIC vs CATEGORICAL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E968C6-03C8-69F3-4978-6D1DD971A83D}"/>
              </a:ext>
            </a:extLst>
          </p:cNvPr>
          <p:cNvSpPr txBox="1"/>
          <p:nvPr/>
        </p:nvSpPr>
        <p:spPr>
          <a:xfrm>
            <a:off x="5708468" y="1452591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vs category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B7FD3D1-E789-BA4F-A067-D2AAE8868FBA}"/>
              </a:ext>
            </a:extLst>
          </p:cNvPr>
          <p:cNvSpPr txBox="1"/>
          <p:nvPr/>
        </p:nvSpPr>
        <p:spPr>
          <a:xfrm>
            <a:off x="5617028" y="1932649"/>
            <a:ext cx="320040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by customer_segment: ANOVA, p = 0.1904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AFC87-6703-DF48-7B03-5E178CAFE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2" y="1452591"/>
            <a:ext cx="5029201" cy="31154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C8F04B-E6B6-40D9-2364-6A36EE8E0D06}"/>
              </a:ext>
            </a:extLst>
          </p:cNvPr>
          <p:cNvSpPr txBox="1"/>
          <p:nvPr/>
        </p:nvSpPr>
        <p:spPr>
          <a:xfrm>
            <a:off x="5421086" y="2801984"/>
            <a:ext cx="303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200" dirty="0"/>
              <a:t>ANOVA </a:t>
            </a:r>
            <a:r>
              <a:rPr lang="en-IN" sz="1200" dirty="0" err="1"/>
              <a:t>final_price</a:t>
            </a:r>
            <a:r>
              <a:rPr lang="en-IN" sz="1200" dirty="0"/>
              <a:t> ~ </a:t>
            </a:r>
            <a:r>
              <a:rPr lang="en-IN" sz="1200" dirty="0" err="1"/>
              <a:t>customer_segment</a:t>
            </a:r>
            <a:r>
              <a:rPr lang="en-IN" sz="1200" dirty="0"/>
              <a:t>: F=1.66, p=0.1904 -&gt; not significant difference between groups</a:t>
            </a:r>
          </a:p>
        </p:txBody>
      </p:sp>
    </p:spTree>
    <p:extLst>
      <p:ext uri="{BB962C8B-B14F-4D97-AF65-F5344CB8AC3E}">
        <p14:creationId xmlns:p14="http://schemas.microsoft.com/office/powerpoint/2010/main" val="282538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5BFB1-77EF-D6F1-3D88-C8879658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C811E6-DD01-2C3D-C160-76CC827AFB27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294353-B82B-D11B-3A4D-06E4F00A8CD3}"/>
              </a:ext>
            </a:extLst>
          </p:cNvPr>
          <p:cNvSpPr txBox="1"/>
          <p:nvPr/>
        </p:nvSpPr>
        <p:spPr>
          <a:xfrm>
            <a:off x="457200" y="1133856"/>
            <a:ext cx="8229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3. CATEGORICAL vs CATEGORICAL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88B5657-F640-2C80-EA1A-0377387FFEDF}"/>
              </a:ext>
            </a:extLst>
          </p:cNvPr>
          <p:cNvSpPr txBox="1"/>
          <p:nvPr/>
        </p:nvSpPr>
        <p:spPr>
          <a:xfrm>
            <a:off x="580243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category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BE4F5F6-F981-C16E-FEFD-46DF6D65D25B}"/>
              </a:ext>
            </a:extLst>
          </p:cNvPr>
          <p:cNvSpPr txBox="1"/>
          <p:nvPr/>
        </p:nvSpPr>
        <p:spPr>
          <a:xfrm>
            <a:off x="5745480" y="228828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 vs return_status: chi-square, p &lt; 0.001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2CEFA-483C-0A53-29DC-4C5037158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10" y="1691640"/>
            <a:ext cx="5037222" cy="28571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C1C074-0168-AE84-CE46-F8E9F1AC8581}"/>
              </a:ext>
            </a:extLst>
          </p:cNvPr>
          <p:cNvSpPr txBox="1"/>
          <p:nvPr/>
        </p:nvSpPr>
        <p:spPr>
          <a:xfrm>
            <a:off x="5582653" y="2877861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IN" sz="1200" dirty="0"/>
              <a:t>S</a:t>
            </a:r>
            <a:r>
              <a:rPr lang="en-IN" sz="1200" b="0" i="0" dirty="0">
                <a:effectLst/>
                <a:latin typeface="+mn-lt"/>
              </a:rPr>
              <a:t>hipping_type vs </a:t>
            </a:r>
            <a:r>
              <a:rPr lang="en-IN" sz="1200" b="0" i="0" dirty="0" err="1">
                <a:effectLst/>
                <a:latin typeface="+mn-lt"/>
              </a:rPr>
              <a:t>return_status</a:t>
            </a:r>
            <a:r>
              <a:rPr lang="en-IN" sz="1200" b="0" i="0" dirty="0">
                <a:effectLst/>
                <a:latin typeface="+mn-lt"/>
              </a:rPr>
              <a:t>: chi2=0.79, p=0.3751 -&gt; variables are independent</a:t>
            </a:r>
            <a:endParaRPr lang="en-IN" sz="12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228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structure, segmentation and return drivers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numeric variables</a:t>
            </a:r>
            <a:endParaRPr lang="en-US" sz="130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9C652C04-FA1F-16E1-5248-1F4B74065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00200"/>
            <a:ext cx="6376737" cy="34049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EFD0D-B53B-7676-8A80-A8457BAC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7F55A9-1CCE-34FE-4506-F01C7715A31C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F82137-A294-D214-DAA1-793B381B19AE}"/>
              </a:ext>
            </a:extLst>
          </p:cNvPr>
          <p:cNvSpPr txBox="1"/>
          <p:nvPr/>
        </p:nvSpPr>
        <p:spPr>
          <a:xfrm>
            <a:off x="457200" y="1010652"/>
            <a:ext cx="8229600" cy="368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PIVOT-TABLE HEATMAPS (2 categorical dims x 1 numeric measure)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F85F0-1FAA-A6FD-4464-891241C7A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41" y="1379621"/>
            <a:ext cx="6713621" cy="358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2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63D41-2B1E-B592-6BE5-650BC140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545BE6-6850-8AC3-6E37-8FD8CB218A40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Analysis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983710-84D6-8AB4-A962-D64300DD0CB1}"/>
              </a:ext>
            </a:extLst>
          </p:cNvPr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F8B040-C69E-E03D-ABF8-EA3C3712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4" y="1074820"/>
            <a:ext cx="7267073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57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528560" cy="3384884"/>
          </a:xfrm>
          <a:prstGeom prst="roundRect">
            <a:avLst>
              <a:gd name="adj" fmla="val 3125"/>
            </a:avLst>
          </a:prstGeom>
          <a:solidFill>
            <a:srgbClr val="3C2766"/>
          </a:solidFill>
          <a:ln w="12700">
            <a:solidFill>
              <a:srgbClr val="3C27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Univariate statistical analysis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Bivariate relationship analysis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 Multivariate interaction analysis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Correlation study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Outlier detection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Skewness and kurtosis measurement 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6A1B0-627D-74EF-81D2-74C81171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E687CD-A0E6-1B60-7ED9-7EA15414D484}"/>
              </a:ext>
            </a:extLst>
          </p:cNvPr>
          <p:cNvSpPr txBox="1"/>
          <p:nvPr/>
        </p:nvSpPr>
        <p:spPr>
          <a:xfrm>
            <a:off x="2782389" y="2099548"/>
            <a:ext cx="3586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4800" b="1" dirty="0">
              <a:solidFill>
                <a:schemeClr val="tx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0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661</Words>
  <Application>Microsoft Office PowerPoint</Application>
  <PresentationFormat>On-screen Show (16:9)</PresentationFormat>
  <Paragraphs>124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ajinkya shinde</cp:lastModifiedBy>
  <cp:revision>3</cp:revision>
  <dcterms:created xsi:type="dcterms:W3CDTF">2026-09-24T04:35:38Z</dcterms:created>
  <dcterms:modified xsi:type="dcterms:W3CDTF">2026-09-25T15:54:33Z</dcterms:modified>
</cp:coreProperties>
</file>